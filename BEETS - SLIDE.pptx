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Neue Machina" charset="1" panose="00000500000000000000"/>
      <p:regular r:id="rId34"/>
    </p:embeddedFont>
    <p:embeddedFont>
      <p:font typeface="Montserrat Bold" charset="1" panose="00000800000000000000"/>
      <p:regular r:id="rId35"/>
    </p:embeddedFont>
    <p:embeddedFont>
      <p:font typeface="DM Sans" charset="1" panose="00000000000000000000"/>
      <p:regular r:id="rId36"/>
    </p:embeddedFont>
    <p:embeddedFont>
      <p:font typeface="Poppins Bold" charset="1" panose="00000800000000000000"/>
      <p:regular r:id="rId37"/>
    </p:embeddedFont>
    <p:embeddedFont>
      <p:font typeface="DM Sans Bold" charset="1" panose="00000000000000000000"/>
      <p:regular r:id="rId38"/>
    </p:embeddedFont>
    <p:embeddedFont>
      <p:font typeface="Poppins" charset="1" panose="00000500000000000000"/>
      <p:regular r:id="rId39"/>
    </p:embeddedFont>
    <p:embeddedFont>
      <p:font typeface="Neue Machina Ultra-Bold" charset="1" panose="000009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6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0823" y="348142"/>
            <a:ext cx="9714354" cy="9590716"/>
          </a:xfrm>
          <a:custGeom>
            <a:avLst/>
            <a:gdLst/>
            <a:ahLst/>
            <a:cxnLst/>
            <a:rect r="r" b="b" t="t" l="l"/>
            <a:pathLst>
              <a:path h="9590716" w="9714354">
                <a:moveTo>
                  <a:pt x="0" y="0"/>
                </a:moveTo>
                <a:lnTo>
                  <a:pt x="9714354" y="0"/>
                </a:lnTo>
                <a:lnTo>
                  <a:pt x="9714354" y="9590716"/>
                </a:lnTo>
                <a:lnTo>
                  <a:pt x="0" y="959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8263" y="4421599"/>
            <a:ext cx="9386299" cy="22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5"/>
              </a:lnSpc>
            </a:pPr>
            <a:r>
              <a:rPr lang="en-US" sz="8995" spc="53">
                <a:solidFill>
                  <a:srgbClr val="F9F8F3"/>
                </a:solidFill>
                <a:latin typeface="Neue Machina"/>
                <a:ea typeface="Neue Machina"/>
                <a:cs typeface="Neue Machina"/>
                <a:sym typeface="Neue Machina"/>
              </a:rPr>
              <a:t>RELATÓRIO FINAL: BEETS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263" y="8460735"/>
            <a:ext cx="9386299" cy="54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b="true" sz="3839" spc="111">
                <a:solidFill>
                  <a:srgbClr val="D4FC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KENDRIKS DA PAIXÃO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8263" y="1840682"/>
            <a:ext cx="3926196" cy="34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 spc="72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8271388"/>
            <a:chOff x="0" y="0"/>
            <a:chExt cx="4536924" cy="1982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1982498"/>
            </a:xfrm>
            <a:custGeom>
              <a:avLst/>
              <a:gdLst/>
              <a:ahLst/>
              <a:cxnLst/>
              <a:rect r="r" b="b" t="t" l="l"/>
              <a:pathLst>
                <a:path h="1982498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1982498"/>
                  </a:lnTo>
                  <a:lnTo>
                    <a:pt x="0" y="19824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197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770" y="8590559"/>
            <a:ext cx="1454197" cy="1335482"/>
            <a:chOff x="0" y="0"/>
            <a:chExt cx="812800" cy="746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46446"/>
            </a:xfrm>
            <a:custGeom>
              <a:avLst/>
              <a:gdLst/>
              <a:ahLst/>
              <a:cxnLst/>
              <a:rect r="r" b="b" t="t" l="l"/>
              <a:pathLst>
                <a:path h="746446" w="812800">
                  <a:moveTo>
                    <a:pt x="406400" y="0"/>
                  </a:moveTo>
                  <a:cubicBezTo>
                    <a:pt x="181951" y="0"/>
                    <a:pt x="0" y="167098"/>
                    <a:pt x="0" y="373223"/>
                  </a:cubicBezTo>
                  <a:cubicBezTo>
                    <a:pt x="0" y="579349"/>
                    <a:pt x="181951" y="746446"/>
                    <a:pt x="406400" y="746446"/>
                  </a:cubicBezTo>
                  <a:cubicBezTo>
                    <a:pt x="630849" y="746446"/>
                    <a:pt x="812800" y="579349"/>
                    <a:pt x="812800" y="373223"/>
                  </a:cubicBezTo>
                  <a:cubicBezTo>
                    <a:pt x="812800" y="167098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444" r="0" b="-44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03378" y="1428590"/>
            <a:ext cx="8116744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Caracterização do Projeto Beets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7614" y="3137886"/>
            <a:ext cx="12225488" cy="250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O que é: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Sistema de gerenciamento de biblioteca musical 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Arquitetura: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Baseada em plugins, permitindo catalogar músicas, obter capas, limpar metadados e integrar-se a bases como MusicBrainz e Discogs.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Funcionalidades: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Conversão de formatos, identificação de duplicatas e acesso via navegador web.</a:t>
            </a:r>
          </a:p>
          <a:p>
            <a:pPr algn="l">
              <a:lnSpc>
                <a:spcPts val="330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61402" y="9034861"/>
            <a:ext cx="9834219" cy="54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4199" spc="-46" u="sng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https://github.com/beetbox/beets.git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8271388"/>
            <a:chOff x="0" y="0"/>
            <a:chExt cx="4536924" cy="1982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1982498"/>
            </a:xfrm>
            <a:custGeom>
              <a:avLst/>
              <a:gdLst/>
              <a:ahLst/>
              <a:cxnLst/>
              <a:rect r="r" b="b" t="t" l="l"/>
              <a:pathLst>
                <a:path h="1982498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1982498"/>
                  </a:lnTo>
                  <a:lnTo>
                    <a:pt x="0" y="19824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197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770" y="8590559"/>
            <a:ext cx="1454197" cy="1335482"/>
            <a:chOff x="0" y="0"/>
            <a:chExt cx="812800" cy="7464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46446"/>
            </a:xfrm>
            <a:custGeom>
              <a:avLst/>
              <a:gdLst/>
              <a:ahLst/>
              <a:cxnLst/>
              <a:rect r="r" b="b" t="t" l="l"/>
              <a:pathLst>
                <a:path h="746446" w="812800">
                  <a:moveTo>
                    <a:pt x="406400" y="0"/>
                  </a:moveTo>
                  <a:cubicBezTo>
                    <a:pt x="181951" y="0"/>
                    <a:pt x="0" y="167098"/>
                    <a:pt x="0" y="373223"/>
                  </a:cubicBezTo>
                  <a:cubicBezTo>
                    <a:pt x="0" y="579349"/>
                    <a:pt x="181951" y="746446"/>
                    <a:pt x="406400" y="746446"/>
                  </a:cubicBezTo>
                  <a:cubicBezTo>
                    <a:pt x="630849" y="746446"/>
                    <a:pt x="812800" y="579349"/>
                    <a:pt x="812800" y="373223"/>
                  </a:cubicBezTo>
                  <a:cubicBezTo>
                    <a:pt x="812800" y="167098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44" r="0" b="-444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020503" y="3330235"/>
            <a:ext cx="2336099" cy="2336099"/>
          </a:xfrm>
          <a:custGeom>
            <a:avLst/>
            <a:gdLst/>
            <a:ahLst/>
            <a:cxnLst/>
            <a:rect r="r" b="b" t="t" l="l"/>
            <a:pathLst>
              <a:path h="2336099" w="2336099">
                <a:moveTo>
                  <a:pt x="0" y="0"/>
                </a:moveTo>
                <a:lnTo>
                  <a:pt x="2336099" y="0"/>
                </a:lnTo>
                <a:lnTo>
                  <a:pt x="2336099" y="2336099"/>
                </a:lnTo>
                <a:lnTo>
                  <a:pt x="0" y="2336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53368" y="3443584"/>
            <a:ext cx="2248908" cy="2248908"/>
          </a:xfrm>
          <a:custGeom>
            <a:avLst/>
            <a:gdLst/>
            <a:ahLst/>
            <a:cxnLst/>
            <a:rect r="r" b="b" t="t" l="l"/>
            <a:pathLst>
              <a:path h="2248908" w="2248908">
                <a:moveTo>
                  <a:pt x="0" y="0"/>
                </a:moveTo>
                <a:lnTo>
                  <a:pt x="2248908" y="0"/>
                </a:lnTo>
                <a:lnTo>
                  <a:pt x="2248908" y="2248908"/>
                </a:lnTo>
                <a:lnTo>
                  <a:pt x="0" y="2248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99041" y="3539494"/>
            <a:ext cx="2214031" cy="2214031"/>
          </a:xfrm>
          <a:custGeom>
            <a:avLst/>
            <a:gdLst/>
            <a:ahLst/>
            <a:cxnLst/>
            <a:rect r="r" b="b" t="t" l="l"/>
            <a:pathLst>
              <a:path h="2214031" w="2214031">
                <a:moveTo>
                  <a:pt x="0" y="0"/>
                </a:moveTo>
                <a:lnTo>
                  <a:pt x="2214032" y="0"/>
                </a:lnTo>
                <a:lnTo>
                  <a:pt x="2214032" y="2214031"/>
                </a:lnTo>
                <a:lnTo>
                  <a:pt x="0" y="221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13298" y="3539494"/>
            <a:ext cx="2057087" cy="2057087"/>
          </a:xfrm>
          <a:custGeom>
            <a:avLst/>
            <a:gdLst/>
            <a:ahLst/>
            <a:cxnLst/>
            <a:rect r="r" b="b" t="t" l="l"/>
            <a:pathLst>
              <a:path h="2057087" w="2057087">
                <a:moveTo>
                  <a:pt x="0" y="0"/>
                </a:moveTo>
                <a:lnTo>
                  <a:pt x="2057086" y="0"/>
                </a:lnTo>
                <a:lnTo>
                  <a:pt x="2057086" y="2057087"/>
                </a:lnTo>
                <a:lnTo>
                  <a:pt x="0" y="2057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314159"/>
            <a:ext cx="8116744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1402" y="9034861"/>
            <a:ext cx="9834219" cy="54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4199" spc="-46" u="sng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https://github.com/beetbox/beets.git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9483" y="5945373"/>
            <a:ext cx="1658140" cy="5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 spc="-144" b="true">
                <a:solidFill>
                  <a:srgbClr val="F9F8F3"/>
                </a:solidFill>
                <a:latin typeface="DM Sans Bold"/>
                <a:ea typeface="DM Sans Bold"/>
                <a:cs typeface="DM Sans Bold"/>
                <a:sym typeface="DM Sans Bold"/>
              </a:rPr>
              <a:t>RANDON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43043" y="5945373"/>
            <a:ext cx="2669559" cy="5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 spc="-144" b="true">
                <a:solidFill>
                  <a:srgbClr val="F9F8F3"/>
                </a:solidFill>
                <a:latin typeface="DM Sans Bold"/>
                <a:ea typeface="DM Sans Bold"/>
                <a:cs typeface="DM Sans Bold"/>
                <a:sym typeface="DM Sans Bold"/>
              </a:rPr>
              <a:t>CODECARBON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51369" y="5945373"/>
            <a:ext cx="1309375" cy="5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 spc="-144" b="true">
                <a:solidFill>
                  <a:srgbClr val="F9F8F3"/>
                </a:solidFill>
                <a:latin typeface="DM Sans Bold"/>
                <a:ea typeface="DM Sans Bold"/>
                <a:cs typeface="DM Sans Bold"/>
                <a:sym typeface="DM Sans Bold"/>
              </a:rPr>
              <a:t>PYLINT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56621" y="5945373"/>
            <a:ext cx="1370440" cy="5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 spc="-144" b="true">
                <a:solidFill>
                  <a:srgbClr val="F9F8F3"/>
                </a:solidFill>
                <a:latin typeface="DM Sans Bold"/>
                <a:ea typeface="DM Sans Bold"/>
                <a:cs typeface="DM Sans Bold"/>
                <a:sym typeface="DM Sans Bold"/>
              </a:rPr>
              <a:t>PYTEST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8271388"/>
            <a:chOff x="0" y="0"/>
            <a:chExt cx="4536924" cy="1982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1982498"/>
            </a:xfrm>
            <a:custGeom>
              <a:avLst/>
              <a:gdLst/>
              <a:ahLst/>
              <a:cxnLst/>
              <a:rect r="r" b="b" t="t" l="l"/>
              <a:pathLst>
                <a:path h="1982498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1982498"/>
                  </a:lnTo>
                  <a:lnTo>
                    <a:pt x="0" y="19824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197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770" y="8590559"/>
            <a:ext cx="1454197" cy="1335482"/>
            <a:chOff x="0" y="0"/>
            <a:chExt cx="812800" cy="7464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46446"/>
            </a:xfrm>
            <a:custGeom>
              <a:avLst/>
              <a:gdLst/>
              <a:ahLst/>
              <a:cxnLst/>
              <a:rect r="r" b="b" t="t" l="l"/>
              <a:pathLst>
                <a:path h="746446" w="812800">
                  <a:moveTo>
                    <a:pt x="406400" y="0"/>
                  </a:moveTo>
                  <a:cubicBezTo>
                    <a:pt x="181951" y="0"/>
                    <a:pt x="0" y="167098"/>
                    <a:pt x="0" y="373223"/>
                  </a:cubicBezTo>
                  <a:cubicBezTo>
                    <a:pt x="0" y="579349"/>
                    <a:pt x="181951" y="746446"/>
                    <a:pt x="406400" y="746446"/>
                  </a:cubicBezTo>
                  <a:cubicBezTo>
                    <a:pt x="630849" y="746446"/>
                    <a:pt x="812800" y="579349"/>
                    <a:pt x="812800" y="373223"/>
                  </a:cubicBezTo>
                  <a:cubicBezTo>
                    <a:pt x="812800" y="167098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44" r="0" b="-444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314159"/>
            <a:ext cx="8116744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Refatoração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1402" y="9034861"/>
            <a:ext cx="9834219" cy="54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4199" spc="-46" u="sng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https://github.com/beetbox/beets.git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07132"/>
            <a:ext cx="12542558" cy="243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</a:p>
          <a:p>
            <a:pPr algn="l" marL="503048" indent="-251524" lvl="1">
              <a:lnSpc>
                <a:spcPts val="3262"/>
              </a:lnSpc>
              <a:buFont typeface="Arial"/>
              <a:buChar char="•"/>
            </a:pPr>
            <a:r>
              <a:rPr lang="en-US" sz="2330" spc="-25">
                <a:solidFill>
                  <a:srgbClr val="D4FC72"/>
                </a:solidFill>
                <a:latin typeface="DM Sans"/>
                <a:ea typeface="DM Sans"/>
                <a:cs typeface="DM Sans"/>
                <a:sym typeface="DM Sans"/>
              </a:rPr>
              <a:t>Ferramenta: </a:t>
            </a:r>
            <a:r>
              <a:rPr lang="en-US" sz="2330" spc="-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Utilização do modelo GPT-5.4 mini </a:t>
            </a:r>
          </a:p>
          <a:p>
            <a:pPr algn="l" marL="503048" indent="-251524" lvl="1">
              <a:lnSpc>
                <a:spcPts val="3262"/>
              </a:lnSpc>
              <a:buFont typeface="Arial"/>
              <a:buChar char="•"/>
            </a:pPr>
            <a:r>
              <a:rPr lang="en-US" sz="2330" spc="-25">
                <a:solidFill>
                  <a:srgbClr val="D4FC72"/>
                </a:solidFill>
                <a:latin typeface="DM Sans"/>
                <a:ea typeface="DM Sans"/>
                <a:cs typeface="DM Sans"/>
                <a:sym typeface="DM Sans"/>
              </a:rPr>
              <a:t>too-many-statements:</a:t>
            </a:r>
            <a:r>
              <a:rPr lang="en-US" sz="2330" spc="-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quando a função/método possui muitas instruções</a:t>
            </a:r>
          </a:p>
          <a:p>
            <a:pPr algn="l" marL="503048" indent="-251524" lvl="1">
              <a:lnSpc>
                <a:spcPts val="3262"/>
              </a:lnSpc>
              <a:buFont typeface="Arial"/>
              <a:buChar char="•"/>
            </a:pPr>
            <a:r>
              <a:rPr lang="en-US" sz="2330" spc="-25">
                <a:solidFill>
                  <a:srgbClr val="D4FC72"/>
                </a:solidFill>
                <a:latin typeface="DM Sans"/>
                <a:ea typeface="DM Sans"/>
                <a:cs typeface="DM Sans"/>
                <a:sym typeface="DM Sans"/>
              </a:rPr>
              <a:t>too-many-instance-attributes:</a:t>
            </a:r>
            <a:r>
              <a:rPr lang="en-US" sz="2330" spc="-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quando uma classe possui muitos atributos de instância</a:t>
            </a:r>
          </a:p>
          <a:p>
            <a:pPr algn="l" marL="503048" indent="-251524" lvl="1">
              <a:lnSpc>
                <a:spcPts val="3262"/>
              </a:lnSpc>
              <a:buFont typeface="Arial"/>
              <a:buChar char="•"/>
            </a:pPr>
            <a:r>
              <a:rPr lang="en-US" sz="2330" spc="-25">
                <a:solidFill>
                  <a:srgbClr val="D4FC72"/>
                </a:solidFill>
                <a:latin typeface="DM Sans"/>
                <a:ea typeface="DM Sans"/>
                <a:cs typeface="DM Sans"/>
                <a:sym typeface="DM Sans"/>
              </a:rPr>
              <a:t>too-many-branches:</a:t>
            </a:r>
            <a:r>
              <a:rPr lang="en-US" sz="2330" spc="-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quando uma função/método possui múltiplas estruturas condicionais aninhadas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1914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5985" y="3402301"/>
            <a:ext cx="15836029" cy="5197287"/>
          </a:xfrm>
          <a:custGeom>
            <a:avLst/>
            <a:gdLst/>
            <a:ahLst/>
            <a:cxnLst/>
            <a:rect r="r" b="b" t="t" l="l"/>
            <a:pathLst>
              <a:path h="5197287" w="15836029">
                <a:moveTo>
                  <a:pt x="0" y="0"/>
                </a:moveTo>
                <a:lnTo>
                  <a:pt x="15836030" y="0"/>
                </a:lnTo>
                <a:lnTo>
                  <a:pt x="15836030" y="5197287"/>
                </a:lnTo>
                <a:lnTo>
                  <a:pt x="0" y="5197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Arquivo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6512" y="2733193"/>
            <a:ext cx="13514085" cy="6341224"/>
          </a:xfrm>
          <a:custGeom>
            <a:avLst/>
            <a:gdLst/>
            <a:ahLst/>
            <a:cxnLst/>
            <a:rect r="r" b="b" t="t" l="l"/>
            <a:pathLst>
              <a:path h="6341224" w="13514085">
                <a:moveTo>
                  <a:pt x="0" y="0"/>
                </a:moveTo>
                <a:lnTo>
                  <a:pt x="13514085" y="0"/>
                </a:lnTo>
                <a:lnTo>
                  <a:pt x="13514085" y="6341224"/>
                </a:lnTo>
                <a:lnTo>
                  <a:pt x="0" y="6341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Arquivo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02301"/>
            <a:ext cx="16309659" cy="5430559"/>
          </a:xfrm>
          <a:custGeom>
            <a:avLst/>
            <a:gdLst/>
            <a:ahLst/>
            <a:cxnLst/>
            <a:rect r="r" b="b" t="t" l="l"/>
            <a:pathLst>
              <a:path h="5430559" w="16309659">
                <a:moveTo>
                  <a:pt x="0" y="0"/>
                </a:moveTo>
                <a:lnTo>
                  <a:pt x="16309659" y="0"/>
                </a:lnTo>
                <a:lnTo>
                  <a:pt x="16309659" y="5430559"/>
                </a:lnTo>
                <a:lnTo>
                  <a:pt x="0" y="5430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Arquivo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02301"/>
            <a:ext cx="16230600" cy="5507791"/>
          </a:xfrm>
          <a:custGeom>
            <a:avLst/>
            <a:gdLst/>
            <a:ahLst/>
            <a:cxnLst/>
            <a:rect r="r" b="b" t="t" l="l"/>
            <a:pathLst>
              <a:path h="5507791" w="16230600">
                <a:moveTo>
                  <a:pt x="0" y="0"/>
                </a:moveTo>
                <a:lnTo>
                  <a:pt x="16230600" y="0"/>
                </a:lnTo>
                <a:lnTo>
                  <a:pt x="16230600" y="5507791"/>
                </a:lnTo>
                <a:lnTo>
                  <a:pt x="0" y="5507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Função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7033" y="3191496"/>
            <a:ext cx="15030260" cy="5182274"/>
          </a:xfrm>
          <a:custGeom>
            <a:avLst/>
            <a:gdLst/>
            <a:ahLst/>
            <a:cxnLst/>
            <a:rect r="r" b="b" t="t" l="l"/>
            <a:pathLst>
              <a:path h="5182274" w="15030260">
                <a:moveTo>
                  <a:pt x="0" y="0"/>
                </a:moveTo>
                <a:lnTo>
                  <a:pt x="15030260" y="0"/>
                </a:lnTo>
                <a:lnTo>
                  <a:pt x="15030260" y="5182274"/>
                </a:lnTo>
                <a:lnTo>
                  <a:pt x="0" y="51822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Função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02301"/>
            <a:ext cx="16230600" cy="5611936"/>
          </a:xfrm>
          <a:custGeom>
            <a:avLst/>
            <a:gdLst/>
            <a:ahLst/>
            <a:cxnLst/>
            <a:rect r="r" b="b" t="t" l="l"/>
            <a:pathLst>
              <a:path h="5611936" w="16230600">
                <a:moveTo>
                  <a:pt x="0" y="0"/>
                </a:moveTo>
                <a:lnTo>
                  <a:pt x="16230600" y="0"/>
                </a:lnTo>
                <a:lnTo>
                  <a:pt x="16230600" y="5611936"/>
                </a:lnTo>
                <a:lnTo>
                  <a:pt x="0" y="5611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3960"/>
            <a:ext cx="12127541" cy="9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Complexidade Ciclomática por Função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98356"/>
            <a:ext cx="16230600" cy="5863711"/>
          </a:xfrm>
          <a:custGeom>
            <a:avLst/>
            <a:gdLst/>
            <a:ahLst/>
            <a:cxnLst/>
            <a:rect r="r" b="b" t="t" l="l"/>
            <a:pathLst>
              <a:path h="5863711" w="16230600">
                <a:moveTo>
                  <a:pt x="0" y="0"/>
                </a:moveTo>
                <a:lnTo>
                  <a:pt x="16230600" y="0"/>
                </a:lnTo>
                <a:lnTo>
                  <a:pt x="16230600" y="5863712"/>
                </a:lnTo>
                <a:lnTo>
                  <a:pt x="0" y="58637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72725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MI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02301"/>
            <a:ext cx="16054887" cy="5745960"/>
          </a:xfrm>
          <a:custGeom>
            <a:avLst/>
            <a:gdLst/>
            <a:ahLst/>
            <a:cxnLst/>
            <a:rect r="r" b="b" t="t" l="l"/>
            <a:pathLst>
              <a:path h="5745960" w="16054887">
                <a:moveTo>
                  <a:pt x="0" y="0"/>
                </a:moveTo>
                <a:lnTo>
                  <a:pt x="16054887" y="0"/>
                </a:lnTo>
                <a:lnTo>
                  <a:pt x="16054887" y="5745960"/>
                </a:lnTo>
                <a:lnTo>
                  <a:pt x="0" y="5745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72725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MI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762955"/>
            <a:ext cx="15316581" cy="6916077"/>
          </a:xfrm>
          <a:custGeom>
            <a:avLst/>
            <a:gdLst/>
            <a:ahLst/>
            <a:cxnLst/>
            <a:rect r="r" b="b" t="t" l="l"/>
            <a:pathLst>
              <a:path h="6916077" w="15316581">
                <a:moveTo>
                  <a:pt x="0" y="0"/>
                </a:moveTo>
                <a:lnTo>
                  <a:pt x="15316581" y="0"/>
                </a:lnTo>
                <a:lnTo>
                  <a:pt x="15316581" y="6916077"/>
                </a:lnTo>
                <a:lnTo>
                  <a:pt x="0" y="6916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72725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Métricas Brutas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69674" y="3466491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0" y="0"/>
                </a:lnTo>
                <a:lnTo>
                  <a:pt x="754500" y="1345407"/>
                </a:lnTo>
                <a:lnTo>
                  <a:pt x="0" y="13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729954"/>
            <a:ext cx="14895068" cy="7053867"/>
          </a:xfrm>
          <a:custGeom>
            <a:avLst/>
            <a:gdLst/>
            <a:ahLst/>
            <a:cxnLst/>
            <a:rect r="r" b="b" t="t" l="l"/>
            <a:pathLst>
              <a:path h="7053867" w="14895068">
                <a:moveTo>
                  <a:pt x="0" y="0"/>
                </a:moveTo>
                <a:lnTo>
                  <a:pt x="14895068" y="0"/>
                </a:lnTo>
                <a:lnTo>
                  <a:pt x="14895068" y="7053867"/>
                </a:lnTo>
                <a:lnTo>
                  <a:pt x="0" y="7053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72725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Codecarbon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6184" y="3299347"/>
            <a:ext cx="2498869" cy="53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6"/>
              </a:lnSpc>
              <a:spcBef>
                <a:spcPct val="0"/>
              </a:spcBef>
            </a:pPr>
            <a:r>
              <a:rPr lang="en-US" b="true" sz="3870" spc="-96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021202" y="4574745"/>
            <a:ext cx="4765985" cy="2938824"/>
            <a:chOff x="0" y="0"/>
            <a:chExt cx="799623" cy="4930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9623" cy="493067"/>
            </a:xfrm>
            <a:custGeom>
              <a:avLst/>
              <a:gdLst/>
              <a:ahLst/>
              <a:cxnLst/>
              <a:rect r="r" b="b" t="t" l="l"/>
              <a:pathLst>
                <a:path h="493067" w="799623">
                  <a:moveTo>
                    <a:pt x="32488" y="0"/>
                  </a:moveTo>
                  <a:lnTo>
                    <a:pt x="767135" y="0"/>
                  </a:lnTo>
                  <a:cubicBezTo>
                    <a:pt x="775752" y="0"/>
                    <a:pt x="784015" y="3423"/>
                    <a:pt x="790108" y="9516"/>
                  </a:cubicBezTo>
                  <a:cubicBezTo>
                    <a:pt x="796201" y="15608"/>
                    <a:pt x="799623" y="23872"/>
                    <a:pt x="799623" y="32488"/>
                  </a:cubicBezTo>
                  <a:lnTo>
                    <a:pt x="799623" y="460579"/>
                  </a:lnTo>
                  <a:cubicBezTo>
                    <a:pt x="799623" y="478522"/>
                    <a:pt x="785078" y="493067"/>
                    <a:pt x="767135" y="493067"/>
                  </a:cubicBezTo>
                  <a:lnTo>
                    <a:pt x="32488" y="493067"/>
                  </a:lnTo>
                  <a:cubicBezTo>
                    <a:pt x="23872" y="493067"/>
                    <a:pt x="15608" y="489645"/>
                    <a:pt x="9516" y="483552"/>
                  </a:cubicBezTo>
                  <a:cubicBezTo>
                    <a:pt x="3423" y="477459"/>
                    <a:pt x="0" y="469196"/>
                    <a:pt x="0" y="460579"/>
                  </a:cubicBezTo>
                  <a:lnTo>
                    <a:pt x="0" y="32488"/>
                  </a:lnTo>
                  <a:cubicBezTo>
                    <a:pt x="0" y="23872"/>
                    <a:pt x="3423" y="15608"/>
                    <a:pt x="9516" y="9516"/>
                  </a:cubicBezTo>
                  <a:cubicBezTo>
                    <a:pt x="15608" y="3423"/>
                    <a:pt x="23872" y="0"/>
                    <a:pt x="32488" y="0"/>
                  </a:cubicBezTo>
                  <a:close/>
                </a:path>
              </a:pathLst>
            </a:custGeom>
            <a:solidFill>
              <a:srgbClr val="2929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99623" cy="52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371465" y="6084839"/>
            <a:ext cx="2065460" cy="0"/>
          </a:xfrm>
          <a:prstGeom prst="line">
            <a:avLst/>
          </a:prstGeom>
          <a:ln cap="rnd" w="19050">
            <a:solidFill>
              <a:srgbClr val="D4FC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218653" y="5072384"/>
            <a:ext cx="4371083" cy="75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0"/>
              </a:lnSpc>
              <a:spcBef>
                <a:spcPct val="0"/>
              </a:spcBef>
            </a:pPr>
            <a:r>
              <a:rPr lang="en-US" b="true" sz="5161" spc="-30">
                <a:solidFill>
                  <a:srgbClr val="D4FC72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APROVADOS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7695" y="6582961"/>
            <a:ext cx="3117504" cy="48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7"/>
              </a:lnSpc>
              <a:spcBef>
                <a:spcPct val="0"/>
              </a:spcBef>
            </a:pPr>
            <a:r>
              <a:rPr lang="en-US" sz="3221" spc="-148">
                <a:solidFill>
                  <a:srgbClr val="D4FC72"/>
                </a:solidFill>
                <a:latin typeface="DM Sans"/>
                <a:ea typeface="DM Sans"/>
                <a:cs typeface="DM Sans"/>
                <a:sym typeface="DM Sans"/>
              </a:rPr>
              <a:t>2.341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0813" y="4574745"/>
            <a:ext cx="4765985" cy="2869071"/>
            <a:chOff x="0" y="0"/>
            <a:chExt cx="799623" cy="4813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9623" cy="481365"/>
            </a:xfrm>
            <a:custGeom>
              <a:avLst/>
              <a:gdLst/>
              <a:ahLst/>
              <a:cxnLst/>
              <a:rect r="r" b="b" t="t" l="l"/>
              <a:pathLst>
                <a:path h="481365" w="799623">
                  <a:moveTo>
                    <a:pt x="32488" y="0"/>
                  </a:moveTo>
                  <a:lnTo>
                    <a:pt x="767135" y="0"/>
                  </a:lnTo>
                  <a:cubicBezTo>
                    <a:pt x="775752" y="0"/>
                    <a:pt x="784015" y="3423"/>
                    <a:pt x="790108" y="9516"/>
                  </a:cubicBezTo>
                  <a:cubicBezTo>
                    <a:pt x="796201" y="15608"/>
                    <a:pt x="799623" y="23872"/>
                    <a:pt x="799623" y="32488"/>
                  </a:cubicBezTo>
                  <a:lnTo>
                    <a:pt x="799623" y="448876"/>
                  </a:lnTo>
                  <a:cubicBezTo>
                    <a:pt x="799623" y="466819"/>
                    <a:pt x="785078" y="481365"/>
                    <a:pt x="767135" y="481365"/>
                  </a:cubicBezTo>
                  <a:lnTo>
                    <a:pt x="32488" y="481365"/>
                  </a:lnTo>
                  <a:cubicBezTo>
                    <a:pt x="23872" y="481365"/>
                    <a:pt x="15608" y="477942"/>
                    <a:pt x="9516" y="471849"/>
                  </a:cubicBezTo>
                  <a:cubicBezTo>
                    <a:pt x="3423" y="465756"/>
                    <a:pt x="0" y="457493"/>
                    <a:pt x="0" y="448876"/>
                  </a:cubicBezTo>
                  <a:lnTo>
                    <a:pt x="0" y="32488"/>
                  </a:lnTo>
                  <a:cubicBezTo>
                    <a:pt x="0" y="23872"/>
                    <a:pt x="3423" y="15608"/>
                    <a:pt x="9516" y="9516"/>
                  </a:cubicBezTo>
                  <a:cubicBezTo>
                    <a:pt x="15608" y="3423"/>
                    <a:pt x="23872" y="0"/>
                    <a:pt x="32488" y="0"/>
                  </a:cubicBezTo>
                  <a:close/>
                </a:path>
              </a:pathLst>
            </a:custGeom>
            <a:solidFill>
              <a:srgbClr val="2929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99623" cy="50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0851075" y="6072542"/>
            <a:ext cx="2065460" cy="0"/>
          </a:xfrm>
          <a:prstGeom prst="line">
            <a:avLst/>
          </a:prstGeom>
          <a:ln cap="rnd" w="19050">
            <a:solidFill>
              <a:srgbClr val="D4FC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737792" y="5081909"/>
            <a:ext cx="4292027" cy="68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6"/>
              </a:lnSpc>
              <a:spcBef>
                <a:spcPct val="0"/>
              </a:spcBef>
            </a:pPr>
            <a:r>
              <a:rPr lang="en-US" b="true" sz="4800" spc="-28">
                <a:solidFill>
                  <a:srgbClr val="DD2E4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FALHAS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25053" y="6582961"/>
            <a:ext cx="3117504" cy="48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7"/>
              </a:lnSpc>
              <a:spcBef>
                <a:spcPct val="0"/>
              </a:spcBef>
            </a:pPr>
            <a:r>
              <a:rPr lang="en-US" sz="3221" spc="-148">
                <a:solidFill>
                  <a:srgbClr val="DD2E4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45255" y="2226340"/>
            <a:ext cx="12738287" cy="7703221"/>
          </a:xfrm>
          <a:custGeom>
            <a:avLst/>
            <a:gdLst/>
            <a:ahLst/>
            <a:cxnLst/>
            <a:rect r="r" b="b" t="t" l="l"/>
            <a:pathLst>
              <a:path h="7703221" w="12738287">
                <a:moveTo>
                  <a:pt x="0" y="0"/>
                </a:moveTo>
                <a:lnTo>
                  <a:pt x="12738287" y="0"/>
                </a:lnTo>
                <a:lnTo>
                  <a:pt x="12738287" y="7703221"/>
                </a:lnTo>
                <a:lnTo>
                  <a:pt x="0" y="7703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8265018" y="4257520"/>
            <a:ext cx="1757963" cy="351593"/>
          </a:xfrm>
          <a:custGeom>
            <a:avLst/>
            <a:gdLst/>
            <a:ahLst/>
            <a:cxnLst/>
            <a:rect r="r" b="b" t="t" l="l"/>
            <a:pathLst>
              <a:path h="351593" w="1757963">
                <a:moveTo>
                  <a:pt x="0" y="0"/>
                </a:moveTo>
                <a:lnTo>
                  <a:pt x="1757964" y="0"/>
                </a:lnTo>
                <a:lnTo>
                  <a:pt x="1757964" y="351592"/>
                </a:lnTo>
                <a:lnTo>
                  <a:pt x="0" y="3515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Antes da Refatoração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7386037" y="5466068"/>
            <a:ext cx="1757963" cy="351593"/>
          </a:xfrm>
          <a:custGeom>
            <a:avLst/>
            <a:gdLst/>
            <a:ahLst/>
            <a:cxnLst/>
            <a:rect r="r" b="b" t="t" l="l"/>
            <a:pathLst>
              <a:path h="351593" w="1757963">
                <a:moveTo>
                  <a:pt x="0" y="0"/>
                </a:moveTo>
                <a:lnTo>
                  <a:pt x="1757963" y="0"/>
                </a:lnTo>
                <a:lnTo>
                  <a:pt x="1757963" y="351592"/>
                </a:lnTo>
                <a:lnTo>
                  <a:pt x="0" y="3515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605825" y="4433316"/>
            <a:ext cx="1757963" cy="351593"/>
          </a:xfrm>
          <a:custGeom>
            <a:avLst/>
            <a:gdLst/>
            <a:ahLst/>
            <a:cxnLst/>
            <a:rect r="r" b="b" t="t" l="l"/>
            <a:pathLst>
              <a:path h="351593" w="1757963">
                <a:moveTo>
                  <a:pt x="0" y="0"/>
                </a:moveTo>
                <a:lnTo>
                  <a:pt x="1757963" y="0"/>
                </a:lnTo>
                <a:lnTo>
                  <a:pt x="1757963" y="351593"/>
                </a:lnTo>
                <a:lnTo>
                  <a:pt x="0" y="351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45690" y="2067334"/>
            <a:ext cx="13337418" cy="7826647"/>
          </a:xfrm>
          <a:custGeom>
            <a:avLst/>
            <a:gdLst/>
            <a:ahLst/>
            <a:cxnLst/>
            <a:rect r="r" b="b" t="t" l="l"/>
            <a:pathLst>
              <a:path h="7826647" w="13337418">
                <a:moveTo>
                  <a:pt x="0" y="0"/>
                </a:moveTo>
                <a:lnTo>
                  <a:pt x="13337418" y="0"/>
                </a:lnTo>
                <a:lnTo>
                  <a:pt x="13337418" y="7826648"/>
                </a:lnTo>
                <a:lnTo>
                  <a:pt x="0" y="7826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Depois da Refatoração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63958" y="2228188"/>
            <a:ext cx="13700882" cy="7555408"/>
          </a:xfrm>
          <a:custGeom>
            <a:avLst/>
            <a:gdLst/>
            <a:ahLst/>
            <a:cxnLst/>
            <a:rect r="r" b="b" t="t" l="l"/>
            <a:pathLst>
              <a:path h="7555408" w="13700882">
                <a:moveTo>
                  <a:pt x="0" y="0"/>
                </a:moveTo>
                <a:lnTo>
                  <a:pt x="13700882" y="0"/>
                </a:lnTo>
                <a:lnTo>
                  <a:pt x="13700882" y="7555408"/>
                </a:lnTo>
                <a:lnTo>
                  <a:pt x="0" y="7555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Antes da Refatoração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8715" y="2213057"/>
            <a:ext cx="13456141" cy="7522423"/>
          </a:xfrm>
          <a:custGeom>
            <a:avLst/>
            <a:gdLst/>
            <a:ahLst/>
            <a:cxnLst/>
            <a:rect r="r" b="b" t="t" l="l"/>
            <a:pathLst>
              <a:path h="7522423" w="13456141">
                <a:moveTo>
                  <a:pt x="0" y="0"/>
                </a:moveTo>
                <a:lnTo>
                  <a:pt x="13456142" y="0"/>
                </a:lnTo>
                <a:lnTo>
                  <a:pt x="13456142" y="7522424"/>
                </a:lnTo>
                <a:lnTo>
                  <a:pt x="0" y="7522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Depois da Refatoração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398746"/>
            <a:ext cx="15174029" cy="7399751"/>
          </a:xfrm>
          <a:custGeom>
            <a:avLst/>
            <a:gdLst/>
            <a:ahLst/>
            <a:cxnLst/>
            <a:rect r="r" b="b" t="t" l="l"/>
            <a:pathLst>
              <a:path h="7399751" w="15174029">
                <a:moveTo>
                  <a:pt x="0" y="0"/>
                </a:moveTo>
                <a:lnTo>
                  <a:pt x="15174029" y="0"/>
                </a:lnTo>
                <a:lnTo>
                  <a:pt x="15174029" y="7399750"/>
                </a:lnTo>
                <a:lnTo>
                  <a:pt x="0" y="7399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Antes da Refatoração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447314"/>
            <a:ext cx="14960515" cy="7249469"/>
          </a:xfrm>
          <a:custGeom>
            <a:avLst/>
            <a:gdLst/>
            <a:ahLst/>
            <a:cxnLst/>
            <a:rect r="r" b="b" t="t" l="l"/>
            <a:pathLst>
              <a:path h="7249469" w="14960515">
                <a:moveTo>
                  <a:pt x="0" y="0"/>
                </a:moveTo>
                <a:lnTo>
                  <a:pt x="14960515" y="0"/>
                </a:lnTo>
                <a:lnTo>
                  <a:pt x="14960515" y="7249469"/>
                </a:lnTo>
                <a:lnTo>
                  <a:pt x="0" y="7249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Depois da Refatoração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59781" y="2919455"/>
            <a:ext cx="12309236" cy="6082494"/>
          </a:xfrm>
          <a:custGeom>
            <a:avLst/>
            <a:gdLst/>
            <a:ahLst/>
            <a:cxnLst/>
            <a:rect r="r" b="b" t="t" l="l"/>
            <a:pathLst>
              <a:path h="6082494" w="12309236">
                <a:moveTo>
                  <a:pt x="0" y="0"/>
                </a:moveTo>
                <a:lnTo>
                  <a:pt x="12309236" y="0"/>
                </a:lnTo>
                <a:lnTo>
                  <a:pt x="12309236" y="6082493"/>
                </a:lnTo>
                <a:lnTo>
                  <a:pt x="0" y="60824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Antes da Refatoração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03255" y="2644772"/>
            <a:ext cx="13622288" cy="6613528"/>
          </a:xfrm>
          <a:custGeom>
            <a:avLst/>
            <a:gdLst/>
            <a:ahLst/>
            <a:cxnLst/>
            <a:rect r="r" b="b" t="t" l="l"/>
            <a:pathLst>
              <a:path h="6613528" w="13622288">
                <a:moveTo>
                  <a:pt x="0" y="0"/>
                </a:moveTo>
                <a:lnTo>
                  <a:pt x="13622288" y="0"/>
                </a:lnTo>
                <a:lnTo>
                  <a:pt x="13622288" y="6613528"/>
                </a:lnTo>
                <a:lnTo>
                  <a:pt x="0" y="6613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Pylint Depois da Refatoração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336463"/>
            <a:ext cx="16129031" cy="5921837"/>
          </a:xfrm>
          <a:custGeom>
            <a:avLst/>
            <a:gdLst/>
            <a:ahLst/>
            <a:cxnLst/>
            <a:rect r="r" b="b" t="t" l="l"/>
            <a:pathLst>
              <a:path h="5921837" w="16129031">
                <a:moveTo>
                  <a:pt x="0" y="0"/>
                </a:moveTo>
                <a:lnTo>
                  <a:pt x="16129031" y="0"/>
                </a:lnTo>
                <a:lnTo>
                  <a:pt x="16129031" y="5921837"/>
                </a:lnTo>
                <a:lnTo>
                  <a:pt x="0" y="5921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399424"/>
            <a:ext cx="16129031" cy="937039"/>
          </a:xfrm>
          <a:custGeom>
            <a:avLst/>
            <a:gdLst/>
            <a:ahLst/>
            <a:cxnLst/>
            <a:rect r="r" b="b" t="t" l="l"/>
            <a:pathLst>
              <a:path h="937039" w="16129031">
                <a:moveTo>
                  <a:pt x="0" y="0"/>
                </a:moveTo>
                <a:lnTo>
                  <a:pt x="16129031" y="0"/>
                </a:lnTo>
                <a:lnTo>
                  <a:pt x="16129031" y="937039"/>
                </a:lnTo>
                <a:lnTo>
                  <a:pt x="0" y="937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Pytest Antes da Refatoração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11759038"/>
            <a:chOff x="0" y="0"/>
            <a:chExt cx="4536924" cy="2818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2818422"/>
            </a:xfrm>
            <a:custGeom>
              <a:avLst/>
              <a:gdLst/>
              <a:ahLst/>
              <a:cxnLst/>
              <a:rect r="r" b="b" t="t" l="l"/>
              <a:pathLst>
                <a:path h="2818422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2818422"/>
                  </a:lnTo>
                  <a:lnTo>
                    <a:pt x="0" y="28184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280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787180">
            <a:off x="7689660" y="3760612"/>
            <a:ext cx="754500" cy="1345408"/>
          </a:xfrm>
          <a:custGeom>
            <a:avLst/>
            <a:gdLst/>
            <a:ahLst/>
            <a:cxnLst/>
            <a:rect r="r" b="b" t="t" l="l"/>
            <a:pathLst>
              <a:path h="1345408" w="754500">
                <a:moveTo>
                  <a:pt x="0" y="0"/>
                </a:moveTo>
                <a:lnTo>
                  <a:pt x="754501" y="0"/>
                </a:lnTo>
                <a:lnTo>
                  <a:pt x="754501" y="1345408"/>
                </a:lnTo>
                <a:lnTo>
                  <a:pt x="0" y="13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728" y="3766176"/>
            <a:ext cx="16524544" cy="5835941"/>
          </a:xfrm>
          <a:custGeom>
            <a:avLst/>
            <a:gdLst/>
            <a:ahLst/>
            <a:cxnLst/>
            <a:rect r="r" b="b" t="t" l="l"/>
            <a:pathLst>
              <a:path h="5835941" w="16524544">
                <a:moveTo>
                  <a:pt x="0" y="0"/>
                </a:moveTo>
                <a:lnTo>
                  <a:pt x="16524544" y="0"/>
                </a:lnTo>
                <a:lnTo>
                  <a:pt x="16524544" y="5835941"/>
                </a:lnTo>
                <a:lnTo>
                  <a:pt x="0" y="583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5665" y="1323960"/>
            <a:ext cx="12127541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Pytest Depois da Refatoração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1728" y="2873388"/>
            <a:ext cx="16524544" cy="960017"/>
          </a:xfrm>
          <a:custGeom>
            <a:avLst/>
            <a:gdLst/>
            <a:ahLst/>
            <a:cxnLst/>
            <a:rect r="r" b="b" t="t" l="l"/>
            <a:pathLst>
              <a:path h="960017" w="16524544">
                <a:moveTo>
                  <a:pt x="0" y="0"/>
                </a:moveTo>
                <a:lnTo>
                  <a:pt x="16524544" y="0"/>
                </a:lnTo>
                <a:lnTo>
                  <a:pt x="16524544" y="960017"/>
                </a:lnTo>
                <a:lnTo>
                  <a:pt x="0" y="960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8271388"/>
            <a:chOff x="0" y="0"/>
            <a:chExt cx="4536924" cy="1982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1982498"/>
            </a:xfrm>
            <a:custGeom>
              <a:avLst/>
              <a:gdLst/>
              <a:ahLst/>
              <a:cxnLst/>
              <a:rect r="r" b="b" t="t" l="l"/>
              <a:pathLst>
                <a:path h="1982498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1982498"/>
                  </a:lnTo>
                  <a:lnTo>
                    <a:pt x="0" y="19824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197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770" y="8590559"/>
            <a:ext cx="1454197" cy="1335482"/>
            <a:chOff x="0" y="0"/>
            <a:chExt cx="812800" cy="746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46446"/>
            </a:xfrm>
            <a:custGeom>
              <a:avLst/>
              <a:gdLst/>
              <a:ahLst/>
              <a:cxnLst/>
              <a:rect r="r" b="b" t="t" l="l"/>
              <a:pathLst>
                <a:path h="746446" w="812800">
                  <a:moveTo>
                    <a:pt x="406400" y="0"/>
                  </a:moveTo>
                  <a:cubicBezTo>
                    <a:pt x="181951" y="0"/>
                    <a:pt x="0" y="167098"/>
                    <a:pt x="0" y="373223"/>
                  </a:cubicBezTo>
                  <a:cubicBezTo>
                    <a:pt x="0" y="579349"/>
                    <a:pt x="181951" y="746446"/>
                    <a:pt x="406400" y="746446"/>
                  </a:cubicBezTo>
                  <a:cubicBezTo>
                    <a:pt x="630849" y="746446"/>
                    <a:pt x="812800" y="579349"/>
                    <a:pt x="812800" y="373223"/>
                  </a:cubicBezTo>
                  <a:cubicBezTo>
                    <a:pt x="812800" y="167098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444" r="0" b="-44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777355"/>
            <a:ext cx="9834219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Considerações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2967" y="3058491"/>
            <a:ext cx="12225488" cy="208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9"/>
              </a:lnSpc>
            </a:pP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Capacidade da LLM: </a:t>
            </a:r>
            <a:r>
              <a:rPr lang="en-US" b="true" sz="2626" spc="-12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Compreendeu bem os problemas, mas às vezes só queria satisfazer o lint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Custo-Benefício:</a:t>
            </a:r>
            <a:r>
              <a:rPr lang="en-US" b="true" sz="2626" spc="-12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Refatorações mecânicas consumiram muitos tokens 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Necessidade de Intervenção Humana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1402" y="9034861"/>
            <a:ext cx="9834219" cy="54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4199" spc="-46" u="sng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https://github.com/beetbox/beets.git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0489" y="-413451"/>
            <a:ext cx="18928978" cy="8271388"/>
            <a:chOff x="0" y="0"/>
            <a:chExt cx="4536924" cy="1982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6924" cy="1982498"/>
            </a:xfrm>
            <a:custGeom>
              <a:avLst/>
              <a:gdLst/>
              <a:ahLst/>
              <a:cxnLst/>
              <a:rect r="r" b="b" t="t" l="l"/>
              <a:pathLst>
                <a:path h="1982498" w="4536924">
                  <a:moveTo>
                    <a:pt x="0" y="0"/>
                  </a:moveTo>
                  <a:lnTo>
                    <a:pt x="4536924" y="0"/>
                  </a:lnTo>
                  <a:lnTo>
                    <a:pt x="4536924" y="1982498"/>
                  </a:lnTo>
                  <a:lnTo>
                    <a:pt x="0" y="198249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36924" cy="197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41318">
            <a:off x="15243663" y="-3033251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770" y="8590559"/>
            <a:ext cx="1454197" cy="1335482"/>
            <a:chOff x="0" y="0"/>
            <a:chExt cx="812800" cy="746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46446"/>
            </a:xfrm>
            <a:custGeom>
              <a:avLst/>
              <a:gdLst/>
              <a:ahLst/>
              <a:cxnLst/>
              <a:rect r="r" b="b" t="t" l="l"/>
              <a:pathLst>
                <a:path h="746446" w="812800">
                  <a:moveTo>
                    <a:pt x="406400" y="0"/>
                  </a:moveTo>
                  <a:cubicBezTo>
                    <a:pt x="181951" y="0"/>
                    <a:pt x="0" y="167098"/>
                    <a:pt x="0" y="373223"/>
                  </a:cubicBezTo>
                  <a:cubicBezTo>
                    <a:pt x="0" y="579349"/>
                    <a:pt x="181951" y="746446"/>
                    <a:pt x="406400" y="746446"/>
                  </a:cubicBezTo>
                  <a:cubicBezTo>
                    <a:pt x="630849" y="746446"/>
                    <a:pt x="812800" y="579349"/>
                    <a:pt x="812800" y="373223"/>
                  </a:cubicBezTo>
                  <a:cubicBezTo>
                    <a:pt x="812800" y="167098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444" r="0" b="-44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19326" y="1628047"/>
            <a:ext cx="9834219" cy="5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866" spc="-42" b="tru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1402" y="2789121"/>
            <a:ext cx="12225488" cy="292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9"/>
              </a:lnSpc>
            </a:pP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Impacto Estrutural: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lhoro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u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ão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le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gibilid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, mas aumentou o número de smells 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Contribuição Open Source: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 desa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fio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subme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er melh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as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proj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tos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sol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</a:p>
          <a:p>
            <a:pPr algn="l" marL="567107" indent="-283553" lvl="1">
              <a:lnSpc>
                <a:spcPts val="3309"/>
              </a:lnSpc>
              <a:buFont typeface="Arial"/>
              <a:buChar char="•"/>
            </a:pPr>
            <a:r>
              <a:rPr lang="en-US" b="true" sz="2626" spc="-120">
                <a:solidFill>
                  <a:srgbClr val="D4FC72"/>
                </a:solidFill>
                <a:latin typeface="DM Sans Bold"/>
                <a:ea typeface="DM Sans Bold"/>
                <a:cs typeface="DM Sans Bold"/>
                <a:sym typeface="DM Sans Bold"/>
              </a:rPr>
              <a:t>Saldo Final: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Expe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iênci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etódica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que co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prova q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 refa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rar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nã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é ap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duzir núm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ro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, 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lhorar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 ma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nibilidade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al d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siste</a:t>
            </a:r>
            <a:r>
              <a:rPr lang="en-US" sz="2626" spc="-120">
                <a:solidFill>
                  <a:srgbClr val="F9F8F3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1402" y="9034861"/>
            <a:ext cx="9834219" cy="54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4199" spc="-46" u="sng">
                <a:solidFill>
                  <a:srgbClr val="D4FC72"/>
                </a:solidFill>
                <a:latin typeface="Poppins"/>
                <a:ea typeface="Poppins"/>
                <a:cs typeface="Poppins"/>
                <a:sym typeface="Poppins"/>
              </a:rPr>
              <a:t>https://github.com/beetbox/beets.git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7809" y="4191259"/>
            <a:ext cx="7389933" cy="194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b="true" sz="7034" spc="-175" strike="noStrik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 Obrigado</a:t>
            </a:r>
          </a:p>
          <a:p>
            <a:pPr algn="l">
              <a:lnSpc>
                <a:spcPts val="7245"/>
              </a:lnSpc>
            </a:pPr>
            <a:r>
              <a:rPr lang="en-US" b="true" sz="7034" spc="-175" strike="noStrike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pela atenção!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87742" y="4897867"/>
            <a:ext cx="3082461" cy="491266"/>
            <a:chOff x="0" y="0"/>
            <a:chExt cx="561507" cy="89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507" cy="89502"/>
            </a:xfrm>
            <a:custGeom>
              <a:avLst/>
              <a:gdLst/>
              <a:ahLst/>
              <a:cxnLst/>
              <a:rect r="r" b="b" t="t" l="l"/>
              <a:pathLst>
                <a:path h="89502" w="561507">
                  <a:moveTo>
                    <a:pt x="561507" y="44751"/>
                  </a:moveTo>
                  <a:lnTo>
                    <a:pt x="561507" y="44751"/>
                  </a:lnTo>
                  <a:cubicBezTo>
                    <a:pt x="561507" y="69467"/>
                    <a:pt x="541472" y="89502"/>
                    <a:pt x="516756" y="89502"/>
                  </a:cubicBezTo>
                  <a:lnTo>
                    <a:pt x="44751" y="89502"/>
                  </a:lnTo>
                  <a:cubicBezTo>
                    <a:pt x="32882" y="89502"/>
                    <a:pt x="21500" y="84787"/>
                    <a:pt x="13107" y="76395"/>
                  </a:cubicBezTo>
                  <a:cubicBezTo>
                    <a:pt x="4715" y="68003"/>
                    <a:pt x="0" y="56620"/>
                    <a:pt x="0" y="44751"/>
                  </a:cubicBezTo>
                  <a:lnTo>
                    <a:pt x="0" y="44751"/>
                  </a:lnTo>
                  <a:cubicBezTo>
                    <a:pt x="0" y="32882"/>
                    <a:pt x="4715" y="21500"/>
                    <a:pt x="13107" y="13107"/>
                  </a:cubicBezTo>
                  <a:cubicBezTo>
                    <a:pt x="21500" y="4715"/>
                    <a:pt x="32882" y="0"/>
                    <a:pt x="44751" y="0"/>
                  </a:cubicBezTo>
                  <a:lnTo>
                    <a:pt x="516756" y="0"/>
                  </a:lnTo>
                  <a:cubicBezTo>
                    <a:pt x="528625" y="0"/>
                    <a:pt x="540008" y="4715"/>
                    <a:pt x="548400" y="13107"/>
                  </a:cubicBezTo>
                  <a:cubicBezTo>
                    <a:pt x="556793" y="21500"/>
                    <a:pt x="561507" y="32882"/>
                    <a:pt x="561507" y="44751"/>
                  </a:cubicBezTo>
                  <a:close/>
                </a:path>
              </a:pathLst>
            </a:custGeom>
            <a:solidFill>
              <a:srgbClr val="292929"/>
            </a:solidFill>
            <a:ln w="28575" cap="rnd">
              <a:solidFill>
                <a:srgbClr val="29292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1507" cy="118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107873" y="5013781"/>
            <a:ext cx="2442199" cy="27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  <a:spcBef>
                <a:spcPct val="0"/>
              </a:spcBef>
            </a:pPr>
            <a:r>
              <a:rPr lang="en-US" sz="2002" spc="-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kendriks@alu.ufc.br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DAHNPj-zOuo</dc:identifier>
  <dcterms:modified xsi:type="dcterms:W3CDTF">2011-08-01T06:04:30Z</dcterms:modified>
  <cp:revision>1</cp:revision>
  <dc:title>BEETS - SLIDE</dc:title>
</cp:coreProperties>
</file>